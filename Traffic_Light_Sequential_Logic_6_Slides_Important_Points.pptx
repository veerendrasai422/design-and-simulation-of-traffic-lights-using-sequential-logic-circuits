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6" r:id="rId1"/>
  </p:sldMasterIdLst>
  <p:sldIdLst>
    <p:sldId id="268" r:id="rId2"/>
    <p:sldId id="256" r:id="rId3"/>
    <p:sldId id="257" r:id="rId4"/>
    <p:sldId id="259" r:id="rId5"/>
    <p:sldId id="260" r:id="rId6"/>
    <p:sldId id="269" r:id="rId7"/>
    <p:sldId id="261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1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2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2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8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9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0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2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2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78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98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40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4440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36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72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59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70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1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21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  <p:sldLayoutId id="2147483988" r:id="rId12"/>
    <p:sldLayoutId id="2147483989" r:id="rId13"/>
    <p:sldLayoutId id="2147483990" r:id="rId14"/>
    <p:sldLayoutId id="2147483991" r:id="rId15"/>
    <p:sldLayoutId id="2147483992" r:id="rId16"/>
    <p:sldLayoutId id="214748399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EFDDF-7AE3-9D96-9DA0-8C72A041D2C2}"/>
              </a:ext>
            </a:extLst>
          </p:cNvPr>
          <p:cNvSpPr txBox="1"/>
          <p:nvPr/>
        </p:nvSpPr>
        <p:spPr>
          <a:xfrm>
            <a:off x="3099816" y="2450592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/>
              <a:t>Konisetty</a:t>
            </a:r>
            <a:r>
              <a:rPr lang="en-IN" sz="2400" dirty="0"/>
              <a:t> sai </a:t>
            </a:r>
            <a:r>
              <a:rPr lang="en-IN" sz="2400" dirty="0" err="1"/>
              <a:t>sri</a:t>
            </a:r>
            <a:r>
              <a:rPr lang="en-IN" sz="2400" dirty="0"/>
              <a:t> akhil : - 26220080123</a:t>
            </a:r>
          </a:p>
          <a:p>
            <a:pPr marL="342900" indent="-342900">
              <a:buAutoNum type="alphaUcPeriod"/>
            </a:pPr>
            <a:r>
              <a:rPr lang="en-IN" sz="2400" dirty="0" err="1"/>
              <a:t>Shahsank</a:t>
            </a:r>
            <a:r>
              <a:rPr lang="en-IN" sz="2400" dirty="0"/>
              <a:t> </a:t>
            </a:r>
            <a:r>
              <a:rPr lang="en-IN" sz="2400" dirty="0" err="1"/>
              <a:t>veerendra</a:t>
            </a:r>
            <a:r>
              <a:rPr lang="en-IN" sz="2400" dirty="0"/>
              <a:t>:- 2620030587</a:t>
            </a:r>
          </a:p>
          <a:p>
            <a:r>
              <a:rPr lang="en-IN" sz="2400" dirty="0"/>
              <a:t>k. Lakshman : - 2620030523</a:t>
            </a:r>
          </a:p>
          <a:p>
            <a:r>
              <a:rPr lang="en-IN" sz="2400" dirty="0"/>
              <a:t>Sai Balaji :- 2620090090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247A7-0E0B-8323-2114-4793B1017AA1}"/>
              </a:ext>
            </a:extLst>
          </p:cNvPr>
          <p:cNvSpPr txBox="1"/>
          <p:nvPr/>
        </p:nvSpPr>
        <p:spPr>
          <a:xfrm>
            <a:off x="3840480" y="1234440"/>
            <a:ext cx="4544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Dr. VENKANNA    ISAMPALLI</a:t>
            </a:r>
          </a:p>
        </p:txBody>
      </p:sp>
    </p:spTree>
    <p:extLst>
      <p:ext uri="{BB962C8B-B14F-4D97-AF65-F5344CB8AC3E}">
        <p14:creationId xmlns:p14="http://schemas.microsoft.com/office/powerpoint/2010/main" val="3772015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684" y="1197864"/>
            <a:ext cx="8686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C0392B"/>
                </a:solidFill>
                <a:latin typeface="Aptos"/>
              </a:rPr>
              <a:t>Design and Simulation of</a:t>
            </a:r>
            <a:br>
              <a:rPr dirty="0"/>
            </a:br>
            <a:r>
              <a:rPr sz="1800" b="1" dirty="0">
                <a:solidFill>
                  <a:srgbClr val="C0392B"/>
                </a:solidFill>
                <a:latin typeface="Aptos"/>
              </a:rPr>
              <a:t>Traffic Lights Using Sequential Logic Circuits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ED2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Digital Electronics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143000"/>
            <a:ext cx="1584198" cy="4416552"/>
          </a:xfrm>
          <a:prstGeom prst="roundRect">
            <a:avLst/>
          </a:prstGeom>
          <a:solidFill>
            <a:srgbClr val="232A37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28682" y="1479042"/>
            <a:ext cx="912114" cy="912114"/>
          </a:xfrm>
          <a:prstGeom prst="ellipse">
            <a:avLst/>
          </a:prstGeom>
          <a:solidFill>
            <a:srgbClr val="DC2D2D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28682" y="2823210"/>
            <a:ext cx="912114" cy="912114"/>
          </a:xfrm>
          <a:prstGeom prst="ellipse">
            <a:avLst/>
          </a:prstGeom>
          <a:solidFill>
            <a:srgbClr val="F5BE23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28682" y="4167378"/>
            <a:ext cx="912114" cy="912114"/>
          </a:xfrm>
          <a:prstGeom prst="ellipse">
            <a:avLst/>
          </a:prstGeom>
          <a:solidFill>
            <a:srgbClr val="2DC85A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BED2"/>
                </a:solidFill>
              </a:defRPr>
            </a:pPr>
            <a:r>
              <a:t>Green  →  Yellow  →  Red  →  Repeat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960120"/>
            <a:ext cx="1600200" cy="4343400"/>
          </a:xfrm>
          <a:prstGeom prst="roundRect">
            <a:avLst/>
          </a:prstGeom>
          <a:solidFill>
            <a:srgbClr val="222A38"/>
          </a:solidFill>
          <a:ln>
            <a:solidFill>
              <a:srgbClr val="A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12680" y="1325880"/>
            <a:ext cx="868680" cy="868680"/>
          </a:xfrm>
          <a:prstGeom prst="ellipse">
            <a:avLst/>
          </a:prstGeom>
          <a:solidFill>
            <a:srgbClr val="E1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12680" y="2560320"/>
            <a:ext cx="868680" cy="868680"/>
          </a:xfrm>
          <a:prstGeom prst="ellipse">
            <a:avLst/>
          </a:prstGeom>
          <a:solidFill>
            <a:srgbClr val="F0B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12680" y="3794760"/>
            <a:ext cx="868680" cy="868680"/>
          </a:xfrm>
          <a:prstGeom prst="ellipse">
            <a:avLst/>
          </a:prstGeom>
          <a:solidFill>
            <a:srgbClr val="3CD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Traffic lights control vehicle movement at road intersections.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Real traffic signals follow a fixed sequence of states.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A sequential logic circuit can generate this sequence automatically.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The circuit uses memory elements, a clock, and combinational logic.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Simulation helps verify the timing and state transitions before hardware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349240"/>
            <a:ext cx="10607040" cy="658368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8FC"/>
                </a:solidFill>
              </a:defRPr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5806440"/>
            <a:ext cx="10835640" cy="457200"/>
          </a:xfrm>
          <a:prstGeom prst="roundRect">
            <a:avLst/>
          </a:prstGeom>
          <a:solidFill>
            <a:srgbClr val="141D2D"/>
          </a:solidFill>
          <a:ln>
            <a:solidFill>
              <a:srgbClr val="A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AAB7CA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Basic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Each traffic-light condition is treated as a state.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The clock signal determines when the controller changes state.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Flip-flops store the present state.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Combinational logic determines the next state.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The output logic activates the appropriate traffic-light 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554480"/>
            <a:ext cx="1207008" cy="3364991"/>
          </a:xfrm>
          <a:prstGeom prst="roundRect">
            <a:avLst/>
          </a:prstGeom>
          <a:solidFill>
            <a:srgbClr val="232A37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40111" y="1810512"/>
            <a:ext cx="694944" cy="694944"/>
          </a:xfrm>
          <a:prstGeom prst="ellipse">
            <a:avLst/>
          </a:prstGeom>
          <a:solidFill>
            <a:srgbClr val="DC2D2D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40111" y="2834639"/>
            <a:ext cx="694944" cy="694944"/>
          </a:xfrm>
          <a:prstGeom prst="ellipse">
            <a:avLst/>
          </a:prstGeom>
          <a:solidFill>
            <a:srgbClr val="F5BE23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40111" y="3858768"/>
            <a:ext cx="694944" cy="694944"/>
          </a:xfrm>
          <a:prstGeom prst="ellipse">
            <a:avLst/>
          </a:prstGeom>
          <a:solidFill>
            <a:srgbClr val="2DC85A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10835640" cy="457200"/>
          </a:xfrm>
          <a:prstGeom prst="roundRect">
            <a:avLst/>
          </a:prstGeom>
          <a:solidFill>
            <a:srgbClr val="141D2D"/>
          </a:solidFill>
          <a:ln>
            <a:solidFill>
              <a:srgbClr val="A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AAB7CA"/>
                </a:solidFill>
              </a:defRPr>
            </a:pPr>
            <a:r>
              <a:rPr b="1">
                <a:solidFill>
                  <a:srgbClr val="C0392B"/>
                </a:solidFill>
              </a:rPr>
              <a:t>Key idea: The controller behaves like a small finite-state machine.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State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2011680" cy="1097280"/>
          </a:xfrm>
          <a:prstGeom prst="roundRect">
            <a:avLst/>
          </a:prstGeom>
          <a:solidFill>
            <a:srgbClr val="1E3755"/>
          </a:solidFill>
          <a:ln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S0: Green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88920" y="2578608"/>
            <a:ext cx="594360" cy="411480"/>
          </a:xfrm>
          <a:prstGeom prst="rightArrow">
            <a:avLst/>
          </a:prstGeom>
          <a:solidFill>
            <a:srgbClr val="96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66160" y="2286000"/>
            <a:ext cx="2011680" cy="1097280"/>
          </a:xfrm>
          <a:prstGeom prst="roundRect">
            <a:avLst/>
          </a:prstGeom>
          <a:solidFill>
            <a:srgbClr val="1E3755"/>
          </a:solidFill>
          <a:ln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S1: Yellow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23560" y="2578608"/>
            <a:ext cx="594360" cy="411480"/>
          </a:xfrm>
          <a:prstGeom prst="rightArrow">
            <a:avLst/>
          </a:prstGeom>
          <a:solidFill>
            <a:srgbClr val="96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2011680" cy="1097280"/>
          </a:xfrm>
          <a:prstGeom prst="roundRect">
            <a:avLst/>
          </a:prstGeom>
          <a:solidFill>
            <a:srgbClr val="1E3755"/>
          </a:solidFill>
          <a:ln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S2: Red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578608"/>
            <a:ext cx="594360" cy="411480"/>
          </a:xfrm>
          <a:prstGeom prst="rightArrow">
            <a:avLst/>
          </a:prstGeom>
          <a:solidFill>
            <a:srgbClr val="96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35440" y="2286000"/>
            <a:ext cx="2011680" cy="1097280"/>
          </a:xfrm>
          <a:prstGeom prst="roundRect">
            <a:avLst/>
          </a:prstGeom>
          <a:solidFill>
            <a:srgbClr val="1E3755"/>
          </a:solidFill>
          <a:ln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S3: Red + Yellow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058400" y="3520440"/>
            <a:ext cx="411480" cy="548640"/>
          </a:xfrm>
          <a:prstGeom prst="downArrow">
            <a:avLst/>
          </a:prstGeom>
          <a:solidFill>
            <a:srgbClr val="96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After S3, the controller returns to S0 and the cycle repeats.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806440"/>
            <a:ext cx="10835640" cy="457200"/>
          </a:xfrm>
          <a:prstGeom prst="roundRect">
            <a:avLst/>
          </a:prstGeom>
          <a:solidFill>
            <a:srgbClr val="141D2D"/>
          </a:solidFill>
          <a:ln>
            <a:solidFill>
              <a:srgbClr val="A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AAB7CA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860CC-7FCB-ED52-2368-7A5CFD419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1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State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09614"/>
              </p:ext>
            </p:extLst>
          </p:nvPr>
        </p:nvGraphicFramePr>
        <p:xfrm>
          <a:off x="914400" y="1554480"/>
          <a:ext cx="10241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5FA"/>
                          </a:solidFill>
                        </a:defRPr>
                      </a:pPr>
                      <a:r>
                        <a:t>Present State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5FA"/>
                          </a:solidFill>
                        </a:defRPr>
                      </a:pPr>
                      <a:r>
                        <a:t>Q1 Q0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5FA"/>
                          </a:solidFill>
                        </a:defRPr>
                      </a:pPr>
                      <a:r>
                        <a:t>Next State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5FA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5FA"/>
                          </a:solidFill>
                        </a:defRPr>
                      </a:pPr>
                      <a:r>
                        <a:t>Yellow / Green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00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Green = 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Yellow = 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rPr dirty="0"/>
                        <a:t>S3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rPr dirty="0"/>
                        <a:t>Yellow = 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600" b="1">
                <a:solidFill>
                  <a:srgbClr val="C0392B"/>
                </a:solidFill>
              </a:rPr>
              <a:t>A traffic-light controller is a practical application of sequential logic.</a:t>
            </a:r>
          </a:p>
          <a:p>
            <a:r>
              <a:rPr sz="1600" b="1">
                <a:solidFill>
                  <a:srgbClr val="C0392B"/>
                </a:solidFill>
              </a:rPr>
              <a:t>Flip-flops provide memory; logic gates generate the required outputs.</a:t>
            </a:r>
          </a:p>
          <a:p>
            <a:r>
              <a:rPr sz="1600" b="1">
                <a:solidFill>
                  <a:srgbClr val="C0392B"/>
                </a:solidFill>
              </a:rPr>
              <a:t>Simulation verifies correct state transitions and timing.</a:t>
            </a:r>
          </a:p>
          <a:p>
            <a:r>
              <a:rPr sz="1600"/>
              <a:t>Advantages: reliable, easy to test, and adjustable timing.</a:t>
            </a:r>
          </a:p>
          <a:p>
            <a:r>
              <a:rPr sz="1600"/>
              <a:t>Applications: road intersections, pedestrian crossings, and industrial signaling.</a:t>
            </a:r>
          </a:p>
          <a:p>
            <a:r>
              <a:rPr sz="1600"/>
              <a:t>Future improvement: vehicle sensors and adaptive timing.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06440"/>
            <a:ext cx="10835640" cy="457200"/>
          </a:xfrm>
          <a:prstGeom prst="roundRect">
            <a:avLst/>
          </a:prstGeom>
          <a:solidFill>
            <a:srgbClr val="141D2D"/>
          </a:solidFill>
          <a:ln>
            <a:solidFill>
              <a:srgbClr val="A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AAB7CA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63</TotalTime>
  <Words>300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SRI AKHIL.K</cp:lastModifiedBy>
  <cp:revision>6</cp:revision>
  <dcterms:created xsi:type="dcterms:W3CDTF">2013-01-27T09:14:16Z</dcterms:created>
  <dcterms:modified xsi:type="dcterms:W3CDTF">2026-10-15T03:59:28Z</dcterms:modified>
  <cp:category/>
</cp:coreProperties>
</file>